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contribution</c:v>
                </c:pt>
              </c:strCache>
            </c:strRef>
          </c:tx>
          <c:spPr>
            <a:solidFill>
              <a:srgbClr val="2A6FC4">
                <a:alpha val="100000"/>
              </a:srgbClr>
            </a:solidFill>
            <a:effectLst/>
          </c:spPr>
          <c:invertIfNegative val="0"/>
          <c:dLbls>
            <c:numFmt formatCode="&quot;$&quot;#,##0,&quot;K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B160B"/>
                    </a:solidFill>
                    <a:latin typeface="Cambr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152000</c:v>
                </c:pt>
                <c:pt idx="1">
                  <c:v>294000</c:v>
                </c:pt>
                <c:pt idx="2">
                  <c:v>436000</c:v>
                </c:pt>
              </c:numCache>
            </c:numRef>
          </c:val>
        </c:ser>
        <c:dLbls>
          <c:numFmt formatCode="&quot;$&quot;#,##0,&quot;K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1B160B"/>
                  </a:solidFill>
                  <a:latin typeface="Cambri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1" i="0" u="none" strike="noStrike">
                <a:solidFill>
                  <a:srgbClr val="1B160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90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E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JONES </a:t>
            </a:r>
            <a:pPr algn="l" indent="0" marL="0">
              <a:buNone/>
            </a:pPr>
            <a:r>
              <a:rPr lang="en-US" sz="1600" dirty="0">
                <a:solidFill>
                  <a:srgbClr val="E7E0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ESTATE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65215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PREPARED FOR LENDER REVIEW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9509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BF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 loss-making ad channel into a </a:t>
            </a:r>
            <a:pPr algn="l" indent="0" marL="0">
              <a:lnSpc>
                <a:spcPct val="100000"/>
              </a:lnSpc>
              <a:buNone/>
            </a:pPr>
            <a:r>
              <a:rPr lang="en-US" sz="4600" b="1" i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self-funding</a:t>
            </a:r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BF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listing engine.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data-underwritten geo-farming portfolio across six Hamilton County communities — built to deploy marketing capital with measurable, downside-protected ROI.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2468880" cy="0"/>
          </a:xfrm>
          <a:prstGeom prst="line">
            <a:avLst/>
          </a:prstGeom>
          <a:noFill/>
          <a:ln w="12700">
            <a:solidFill>
              <a:srgbClr val="6E5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983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E0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−$46,496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640080" y="55595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80" kern="0" dirty="0">
                <a:solidFill>
                  <a:srgbClr val="9A9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ZILLOW CHANNEL · NET / YR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20440" y="4892040"/>
            <a:ext cx="2468880" cy="0"/>
          </a:xfrm>
          <a:prstGeom prst="line">
            <a:avLst/>
          </a:prstGeom>
          <a:noFill/>
          <a:ln w="12700">
            <a:solidFill>
              <a:srgbClr val="6E5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4983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+$435,567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3520440" y="55595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80" kern="0" dirty="0">
                <a:solidFill>
                  <a:srgbClr val="9A9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GEO-FARM PORTFOLIO · NET / YR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0" y="4892040"/>
            <a:ext cx="2468880" cy="0"/>
          </a:xfrm>
          <a:prstGeom prst="line">
            <a:avLst/>
          </a:prstGeom>
          <a:noFill/>
          <a:ln w="12700">
            <a:solidFill>
              <a:srgbClr val="6E5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983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+$482,063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6400800" y="55595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80" kern="0" dirty="0">
                <a:solidFill>
                  <a:srgbClr val="9A9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SWING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</a:t>
            </a:r>
            <a:pPr algn="l" indent="0" marL="0">
              <a:buNone/>
            </a:pPr>
            <a:r>
              <a:rPr lang="en-US" sz="1100" b="1" dirty="0">
                <a:solidFill>
                  <a:srgbClr val="E7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Real Estate Team</a:t>
            </a:r>
            <a:pPr algn="l" indent="0" marL="0">
              <a:buNone/>
            </a:pPr>
            <a:r>
              <a:rPr lang="en-US" sz="1100" dirty="0">
                <a:solidFill>
                  <a:srgbClr val="9A9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Hamilton County, Indiana · MIBOR market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79615" y="6217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9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Capital &amp; Ad-Spend Facility
</a:t>
            </a:r>
            <a:pPr algn="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7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Requested: growth capital for a 6-farm rollout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current lead channel loses money on every dollar spent.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Purchased Zillow leads are priced for a bidding war — high cost per lead, shared with competing agents, converting below what the spend requires. Fully costed, the channel runs a net loss.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212080" cy="3108960"/>
          </a:xfrm>
          <a:prstGeom prst="roundRect">
            <a:avLst>
              <a:gd name="adj" fmla="val 2647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880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RETURN ON ZILLOW LEADS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32004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−$46,496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1005840" y="44348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year, fully costed — money out the door with nothing to show.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50749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spend cannot fix a negative unit economic.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514600"/>
            <a:ext cx="5212080" cy="3108960"/>
          </a:xfrm>
          <a:prstGeom prst="roundRect">
            <a:avLst>
              <a:gd name="adj" fmla="val 2647"/>
            </a:avLst>
          </a:prstGeom>
          <a:solidFill>
            <a:srgbClr val="0E1E33"/>
          </a:solidFill>
          <a:ln/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20840" y="30632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QUESTION FOR A LENDER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347472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BF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the next marketing dollar go?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REAL ESTATE</a:t>
            </a:r>
            <a:pPr algn="l"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Marketing Capital Plan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pPr algn="r"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marketing budget, redeployed, swings </a:t>
            </a:r>
            <a:pPr algn="l"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E7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+$482,063</a:t>
            </a:r>
            <a:pPr algn="l"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Redirecting spend from rented Zillow leads into an owned geo-farming portfolio replaces a recurring loss with a compounding, high-margin listing pipeline.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965960" y="2834640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F7E3DF"/>
          </a:solidFill>
          <a:ln w="15875">
            <a:solidFill>
              <a:srgbClr val="B23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5960" y="28346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</a:t>
            </a:r>
            <a:pPr algn="ctr" indent="0" marL="0">
              <a:buNone/>
            </a:pPr>
            <a:r>
              <a:rPr lang="en-US" sz="29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−$46,496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1737360" y="3794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ZILLOW LEADS TODAY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74920" y="292608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172200" y="2834640"/>
            <a:ext cx="3200400" cy="914400"/>
          </a:xfrm>
          <a:prstGeom prst="roundRect">
            <a:avLst>
              <a:gd name="adj" fmla="val 6000"/>
            </a:avLst>
          </a:prstGeom>
          <a:solidFill>
            <a:srgbClr val="DDF0E3"/>
          </a:solidFill>
          <a:ln w="15875">
            <a:solidFill>
              <a:srgbClr val="1E7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2834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E7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</a:t>
            </a:r>
            <a:pPr algn="ctr" indent="0" marL="0">
              <a:buNone/>
            </a:pPr>
            <a:r>
              <a:rPr lang="en-US" sz="2900" b="1" dirty="0">
                <a:solidFill>
                  <a:srgbClr val="1E7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+$435,567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594360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GEO-FARM PORTFOLIO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10881360" cy="0"/>
          </a:xfrm>
          <a:prstGeom prst="line">
            <a:avLst/>
          </a:prstGeom>
          <a:noFill/>
          <a:ln w="12700">
            <a:solidFill>
              <a:srgbClr val="E4DD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8006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ANNUAL SWING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502920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7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+$482,063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the plan still leaves $4,028 / month of the old Zillow budget unspent. Both figures are net contribution (gross commission less that channel's direct cost), before brokerage split and taxes.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REAL ESTATE</a:t>
            </a:r>
            <a:pPr algn="l"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Marketing Capital Plan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pPr algn="r"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UNDERWRITTEN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farm is priced like a loan, not a hope.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community is underwritten bottom-up. Nothing is assumed that MIBOR data can't verify — and the dominant competitor is subtracted out before we count a single winnable listing.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560320" cy="2743200"/>
          </a:xfrm>
          <a:prstGeom prst="roundRect">
            <a:avLst>
              <a:gd name="adj" fmla="val 2857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788920"/>
            <a:ext cx="566928" cy="566928"/>
          </a:xfrm>
          <a:prstGeom prst="ellipse">
            <a:avLst/>
          </a:prstGeom>
          <a:solidFill>
            <a:srgbClr val="0E1E33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816352"/>
            <a:ext cx="5669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3520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touches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97764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 × 12 mailings × $0.65 = the mail budget. No guesswork on spend.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01568" y="2468880"/>
            <a:ext cx="2560320" cy="2743200"/>
          </a:xfrm>
          <a:prstGeom prst="roundRect">
            <a:avLst>
              <a:gd name="adj" fmla="val 2857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21608" y="2788920"/>
            <a:ext cx="566928" cy="566928"/>
          </a:xfrm>
          <a:prstGeom prst="ellipse">
            <a:avLst/>
          </a:prstGeom>
          <a:solidFill>
            <a:srgbClr val="0E1E33"/>
          </a:solidFill>
          <a:ln/>
        </p:spPr>
      </p:sp>
      <p:sp>
        <p:nvSpPr>
          <p:cNvPr id="12" name="Text 10"/>
          <p:cNvSpPr/>
          <p:nvPr/>
        </p:nvSpPr>
        <p:spPr>
          <a:xfrm>
            <a:off x="3721608" y="2816352"/>
            <a:ext cx="5669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21608" y="3520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Winnable pool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21608" y="397764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sales × (1 − dominant-agent share). We never count listings a saturated competitor owns.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63056" y="2468880"/>
            <a:ext cx="2560320" cy="2743200"/>
          </a:xfrm>
          <a:prstGeom prst="roundRect">
            <a:avLst>
              <a:gd name="adj" fmla="val 2857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83096" y="2788920"/>
            <a:ext cx="566928" cy="566928"/>
          </a:xfrm>
          <a:prstGeom prst="ellipse">
            <a:avLst/>
          </a:prstGeom>
          <a:solidFill>
            <a:srgbClr val="0E1E33"/>
          </a:solidFill>
          <a:ln/>
        </p:spPr>
      </p:sp>
      <p:sp>
        <p:nvSpPr>
          <p:cNvPr id="17" name="Text 15"/>
          <p:cNvSpPr/>
          <p:nvPr/>
        </p:nvSpPr>
        <p:spPr>
          <a:xfrm>
            <a:off x="6483096" y="2816352"/>
            <a:ext cx="5669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83096" y="3520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capture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83096" y="397764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modeled 15% of the winnable pool — against a break-even of under 1%.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924544" y="2468880"/>
            <a:ext cx="2560320" cy="2743200"/>
          </a:xfrm>
          <a:prstGeom prst="roundRect">
            <a:avLst>
              <a:gd name="adj" fmla="val 2857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44584" y="2788920"/>
            <a:ext cx="566928" cy="566928"/>
          </a:xfrm>
          <a:prstGeom prst="ellipse">
            <a:avLst/>
          </a:prstGeom>
          <a:solidFill>
            <a:srgbClr val="0E1E33"/>
          </a:solidFill>
          <a:ln/>
        </p:spPr>
      </p:sp>
      <p:sp>
        <p:nvSpPr>
          <p:cNvPr id="22" name="Text 20"/>
          <p:cNvSpPr/>
          <p:nvPr/>
        </p:nvSpPr>
        <p:spPr>
          <a:xfrm>
            <a:off x="9244584" y="2816352"/>
            <a:ext cx="5669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44584" y="3520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Underwritten GCI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44584" y="397764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× median price × 2.82% = gross commission, then net of mail.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by design  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medians seeded below small-sample Redfin highs, luxury turnover held at 4%, and the two anchor farms reconcile to this model to the dollar.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REAL ESTATE</a:t>
            </a:r>
            <a:pPr algn="l"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Marketing Capital Plan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pPr algn="r"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PROTECTION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Stress-tested: profitable at a third of the plan.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15% capture assumption to a third — 5% — and the portfolio still nets +$120,749. The mail spend is fixed and small; there is no realistic capture rate where this loses money.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267004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· 15% capture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0" y="2697480"/>
            <a:ext cx="5623560" cy="384048"/>
          </a:xfrm>
          <a:prstGeom prst="roundRect">
            <a:avLst>
              <a:gd name="adj" fmla="val 10714"/>
            </a:avLst>
          </a:prstGeom>
          <a:solidFill>
            <a:srgbClr val="2A6FC4"/>
          </a:solidFill>
          <a:ln/>
        </p:spPr>
      </p:sp>
      <p:sp>
        <p:nvSpPr>
          <p:cNvPr id="7" name="Text 5"/>
          <p:cNvSpPr/>
          <p:nvPr/>
        </p:nvSpPr>
        <p:spPr>
          <a:xfrm>
            <a:off x="9866376" y="267004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+$435,567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31012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capture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0" y="3337560"/>
            <a:ext cx="3591269" cy="384048"/>
          </a:xfrm>
          <a:prstGeom prst="roundRect">
            <a:avLst>
              <a:gd name="adj" fmla="val 10714"/>
            </a:avLst>
          </a:prstGeom>
          <a:solidFill>
            <a:srgbClr val="2A6FC4"/>
          </a:solidFill>
          <a:ln/>
        </p:spPr>
      </p:sp>
      <p:sp>
        <p:nvSpPr>
          <p:cNvPr id="10" name="Text 8"/>
          <p:cNvSpPr/>
          <p:nvPr/>
        </p:nvSpPr>
        <p:spPr>
          <a:xfrm>
            <a:off x="7834085" y="331012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+$278,158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95020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 capture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0" y="3977640"/>
            <a:ext cx="2575130" cy="384048"/>
          </a:xfrm>
          <a:prstGeom prst="roundRect">
            <a:avLst>
              <a:gd name="adj" fmla="val 10714"/>
            </a:avLst>
          </a:prstGeom>
          <a:solidFill>
            <a:srgbClr val="2A6FC4"/>
          </a:solidFill>
          <a:ln/>
        </p:spPr>
      </p:sp>
      <p:sp>
        <p:nvSpPr>
          <p:cNvPr id="13" name="Text 11"/>
          <p:cNvSpPr/>
          <p:nvPr/>
        </p:nvSpPr>
        <p:spPr>
          <a:xfrm>
            <a:off x="6817946" y="395020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+$199,454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59028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capture  (⅓ of plan)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0" y="4617720"/>
            <a:ext cx="1558978" cy="384048"/>
          </a:xfrm>
          <a:prstGeom prst="roundRect">
            <a:avLst>
              <a:gd name="adj" fmla="val 10714"/>
            </a:avLst>
          </a:prstGeom>
          <a:solidFill>
            <a:srgbClr val="2A6FC4"/>
          </a:solidFill>
          <a:ln/>
        </p:spPr>
      </p:sp>
      <p:sp>
        <p:nvSpPr>
          <p:cNvPr id="16" name="Text 14"/>
          <p:cNvSpPr/>
          <p:nvPr/>
        </p:nvSpPr>
        <p:spPr>
          <a:xfrm>
            <a:off x="5801794" y="459028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+$120,749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23036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Zillow today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14800" y="5257800"/>
            <a:ext cx="600305" cy="384048"/>
          </a:xfrm>
          <a:prstGeom prst="roundRect">
            <a:avLst>
              <a:gd name="adj" fmla="val 10714"/>
            </a:avLst>
          </a:prstGeom>
          <a:solidFill>
            <a:srgbClr val="C63A2E"/>
          </a:solidFill>
          <a:ln/>
        </p:spPr>
      </p:sp>
      <p:sp>
        <p:nvSpPr>
          <p:cNvPr id="19" name="Text 17"/>
          <p:cNvSpPr/>
          <p:nvPr/>
        </p:nvSpPr>
        <p:spPr>
          <a:xfrm>
            <a:off x="4843121" y="523036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−$46,496 · loss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111496"/>
            <a:ext cx="10881360" cy="0"/>
          </a:xfrm>
          <a:prstGeom prst="line">
            <a:avLst/>
          </a:prstGeom>
          <a:noFill/>
          <a:ln w="12700">
            <a:solidFill>
              <a:srgbClr val="E4DD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capture is 0.92%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mail is a rounding error next to a ~$28K commission. Every realistic capture rate clears today's Zillow channel by a wide margin. (Commission-compression sensitivity in the appendix.)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REAL ESTATE</a:t>
            </a:r>
            <a:pPr algn="l"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Marketing Capital Plan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pPr algn="r"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PORTFOLIO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farms, one self-funding pipeline.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MAIL BUDGET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41248" y="1965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$36,660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$3,055 / month, all six farms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01568" y="16002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0168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/ YR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02736" y="1965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30168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full ramp, 15% capture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63056" y="16002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1656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COMMISSION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64224" y="1965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$472K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91656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2.82% of median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24544" y="16002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53144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CONTRIBUTION / YR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25712" y="1965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7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$435,567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153144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1,088% return on mail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4612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143000"/>
                <a:gridCol w="1234440"/>
                <a:gridCol w="1280160"/>
                <a:gridCol w="1280160"/>
                <a:gridCol w="146304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Top-agent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Mail / yr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/ yr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Hamilton Proper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$5,850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$89,325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1,527%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 Eagle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$750K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$4,680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$71,460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1,527%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seeded farms — combined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~3,350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~$467K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$26,130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~$274,782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~1,052%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60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Portfolio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~4,700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$36,660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$435,567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1,088%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Britton Falls · Sunblest · Geist · Windermere are seeded estimates, finalized on the MIBOR data pull and reconciled to portfolio totals. “Net” = gross commission less mail cost, before brokerage split and taxes.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REAL ESTATE</a:t>
            </a:r>
            <a:pPr algn="l"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Marketing Capital Plan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pPr algn="r"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VERIFIED ANCHORS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farms, fully modeled and audit-ready.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highest-return farms — and the two that reconcile to the model exactly, to the dollar. Both break even below 1% capture.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257800" cy="3246120"/>
          </a:xfrm>
          <a:prstGeom prst="roundRect">
            <a:avLst>
              <a:gd name="adj" fmla="val 2535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Hamilton Proper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206240" y="257860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7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1,527%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206240" y="301752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ON MAIL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05840" y="3127248"/>
            <a:ext cx="2400300" cy="292608"/>
          </a:xfrm>
          <a:prstGeom prst="roundRect">
            <a:avLst>
              <a:gd name="adj" fmla="val 50000"/>
            </a:avLst>
          </a:prstGeom>
          <a:solidFill>
            <a:srgbClr val="F7E3DF"/>
          </a:solidFill>
          <a:ln w="12700">
            <a:solidFill>
              <a:srgbClr val="B23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127248"/>
            <a:ext cx="24003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agent-saturated · flagged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3657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5840" y="387705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12848" y="3657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212848" y="387705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$1.0M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19856" y="3657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/ YR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19856" y="387705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$5,850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26864" y="3657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/ YR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26864" y="387705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7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$89,325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45720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turns slowly (4%/yr) and one agent holds 25% share — flagged until MIBOR proves the field winnable. Net of that agent, break-even is 0.92%.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2377440"/>
            <a:ext cx="5257800" cy="3246120"/>
          </a:xfrm>
          <a:prstGeom prst="roundRect">
            <a:avLst>
              <a:gd name="adj" fmla="val 2535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Gray Eagle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9738360" y="257860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7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1,527%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738360" y="301752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ON MAIL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37960" y="3127248"/>
            <a:ext cx="1545336" cy="292608"/>
          </a:xfrm>
          <a:prstGeom prst="roundRect">
            <a:avLst>
              <a:gd name="adj" fmla="val 50000"/>
            </a:avLst>
          </a:prstGeom>
          <a:solidFill>
            <a:srgbClr val="DDF0E3"/>
          </a:solidFill>
          <a:ln w="12700">
            <a:solidFill>
              <a:srgbClr val="1E7A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127248"/>
            <a:ext cx="1545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 community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37960" y="3657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537960" y="387705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44968" y="3657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744968" y="387705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$750K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951976" y="3657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/ YR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951976" y="387705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$4,680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158984" y="3657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/ YR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158984" y="387705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7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$71,460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537960" y="45720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5% annual turn at a $750K median with a less-entrenched field. Break-even 0.92% — the club is a sponsorship-and-presence channel that compounds the mail.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REAL ESTATE</a:t>
            </a:r>
            <a:pPr algn="l"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Marketing Capital Plan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pPr algn="r"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deliberately patient three-year ramp.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Farming compounds on recognition — under 40% of run-rate in year one, full capture only in year three. No hockey stick: the mail cost is flat, the return climbs.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280160" y="2423160"/>
          <a:ext cx="96012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280160" y="58978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after mail. Same $36,660 annual spend across all three years — the growth is capture maturing, not budget escalation.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REAL ESTATE</a:t>
            </a:r>
            <a:pPr algn="l"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Marketing Capital Plan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pPr algn="r"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E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&amp; USE OF FUNDS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BF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the deployment. Own the pipeline.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funds the year-one rollout; then the portfolio self-funds — for less than the Zillow budget it replaces, with every dollar attributable.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mail program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0" y="2697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$3,055/mo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9352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touches × six farms — the engine.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2644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upgrades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0" y="32644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5021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Just-listed / just-sold triggers &amp; market reports.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8313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&amp; events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57600" y="38313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quarterly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069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physical touch per farm.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3982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Geo-fenced digital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57600" y="43982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~$125/mo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6360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 the mail across all six polygons.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4965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Per-farm attribution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657600" y="49651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2029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/ landing pages track every lead to a farm.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5532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headroom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57600" y="5532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$4,028/mo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7698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Zillow budget left unspent — runway.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0" y="2331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LENDER IS BACKING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2743200"/>
            <a:ext cx="365760" cy="365760"/>
          </a:xfrm>
          <a:prstGeom prst="ellipse">
            <a:avLst/>
          </a:prstGeom>
          <a:solidFill>
            <a:srgbClr val="B0842F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95160" y="27249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first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995160" y="29809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profitable at 5% capture — one-third of plan.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92240" y="3493008"/>
            <a:ext cx="365760" cy="365760"/>
          </a:xfrm>
          <a:prstGeom prst="ellipse">
            <a:avLst/>
          </a:prstGeom>
          <a:solidFill>
            <a:srgbClr val="B0842F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3493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9516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channel, reversed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995160" y="37307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−$46,496 becomes +$435,567 at full ramp.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92240" y="4242816"/>
            <a:ext cx="365760" cy="365760"/>
          </a:xfrm>
          <a:prstGeom prst="ellipse">
            <a:avLst/>
          </a:prstGeom>
          <a:solidFill>
            <a:srgbClr val="B0842F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4242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995160" y="4224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owned, appreciating asset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99516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compounds; leads aren't rented from Zillow.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92240" y="4992624"/>
            <a:ext cx="365760" cy="365760"/>
          </a:xfrm>
          <a:prstGeom prst="ellipse">
            <a:avLst/>
          </a:prstGeom>
          <a:solidFill>
            <a:srgbClr val="B0842F"/>
          </a:solidFill>
          <a:ln/>
        </p:spPr>
      </p:sp>
      <p:sp>
        <p:nvSpPr>
          <p:cNvPr id="39" name="Text 37"/>
          <p:cNvSpPr/>
          <p:nvPr/>
        </p:nvSpPr>
        <p:spPr>
          <a:xfrm>
            <a:off x="6492240" y="4992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995160" y="49743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hoped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995160" y="52303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Per-farm attribution feeds actuals back quarterly.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" y="5806440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0A1626"/>
          </a:solidFill>
          <a:ln w="12700">
            <a:solidFill>
              <a:srgbClr val="6E5A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" y="580644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spend than Zillow — a positive return instead of a loss, and a marketing asset you own.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772400" y="5806440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+$482,063   </a:t>
            </a:r>
            <a:pPr algn="r" indent="0" marL="0">
              <a:buNone/>
            </a:pPr>
            <a:r>
              <a:rPr lang="en-US" sz="1100" dirty="0">
                <a:solidFill>
                  <a:srgbClr val="9A94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swing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9A9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REAL ESTATE</a:t>
            </a:r>
            <a:pPr algn="l" indent="0" marL="0">
              <a:buNone/>
            </a:pPr>
            <a:r>
              <a:rPr lang="en-US" sz="90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Marketing Capital Plan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7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pPr algn="r" indent="0" marL="0">
              <a:buNone/>
            </a:pPr>
            <a:r>
              <a:rPr lang="en-US" sz="90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ASSUMPTIONS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behind the numbers.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cost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 × 12 touches/yr × $0.65 per piece.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35000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Winnable pool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sales × (1 − dominant-agent share).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91693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&amp; GCI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of winnable × median × 2.82%, net of mail.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483864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 County / MIBOR; medians cross-checked vs. Redfin.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ANCHOR-FARM RECONCILIATION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389120"/>
          <a:ext cx="53949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280160"/>
                <a:gridCol w="12801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Hamilton P.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 Eagle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sales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Winnable (net of top agent)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Captured @ 15%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GCI @ 2.82%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$95,175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$76,140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after mail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$89,325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$71,460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400800" y="1737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COMMISSION-COMPRESSION SENSITIVITY</a:t>
            </a:r>
            <a:endParaRPr lang="en-US" sz="10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029968"/>
          <a:ext cx="51206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600200"/>
                <a:gridCol w="17830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GCI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contribution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2.82%  (base)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$472K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$435,567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$419K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$381,990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$385K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$348,490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400800" y="356616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675120" y="3749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DISCLOSURES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675120" y="4023360"/>
            <a:ext cx="4617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basis.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“Net” = gross commission less mail cost — before brokerage split, taxes and other costs. Zillow and farm figures share this basis, so the swing is like-for-like.
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vs. seeded.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anchors reconcile to the dollar; the four others are seeded pending the MIBOR pull, shown only in combined form.
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Conservatism.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capture stress-tested down to 5%. Modeled potential at full ramp, not guaranteed results.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REAL ESTATE</a:t>
            </a:r>
            <a:pPr algn="l"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Marketing Capital Plan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algn="r"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Capital Plan — Geo-Farm Portfolio</dc:title>
  <dc:subject>PptxGenJS Presentation</dc:subject>
  <dc:creator>Jones Real Estate</dc:creator>
  <cp:lastModifiedBy>Jones Real Estate</cp:lastModifiedBy>
  <cp:revision>1</cp:revision>
  <dcterms:created xsi:type="dcterms:W3CDTF">2026-07-18T23:58:00Z</dcterms:created>
  <dcterms:modified xsi:type="dcterms:W3CDTF">2026-07-18T23:58:00Z</dcterms:modified>
</cp:coreProperties>
</file>