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contribution</c:v>
                </c:pt>
              </c:strCache>
            </c:strRef>
          </c:tx>
          <c:spPr>
            <a:solidFill>
              <a:srgbClr val="2A6FC4">
                <a:alpha val="100000"/>
              </a:srgbClr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160B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145000</c:v>
                </c:pt>
                <c:pt idx="1">
                  <c:v>280000</c:v>
                </c:pt>
                <c:pt idx="2">
                  <c:v>415000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160B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B16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algn="l"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 </a:t>
            </a:r>
            <a:pPr algn="l"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Farming</a:t>
            </a:r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algn="l"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Hamilton County, Indiana · MIBOR market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 spend that converts to listings — and pays for itself.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turns a fixed, measurable ad budget into an owned lead pipeline across six neighborhoods. The conversion needed to cover the entire spend is a rounding error against the homes you reach.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REACHED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farm neighborhoods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AD SPEND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$3,055/mo · ~$7.80 / home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LEADS / YR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~10% engagement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WON / YR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6% of leads convert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ENTIRE AD SPEND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~2.4 listings a year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ad spend — 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lead-to-listing conversion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well under 1% of the homes you reach.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≈12×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86800" y="550468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vs. the 29.8 listings the plan targets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UNDERWRITTEN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farm is priced like a loan, not a hope.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 is underwritten bottom-up. Nothing is assumed that MIBOR data can't verify — and the dominant competitor is subtracted out before we count a single winnable listing.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touches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mailings × $0.65 = the mail budget. No guesswork on spend.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01568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21608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 We never count listings a saturated competitor owns.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3096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83096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3096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modeled 15% of the winnable pool — against a break-even near 1%.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24544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Underwritten GCI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× median price × 2.82% = gross commission, then net of mail.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medians seeded below small-sample Redfin highs, luxury turnover held at 4%, and the two anchor farms reconcile to this model to the dollar.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Stress-tested: profitable at a third of the plan.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15% capture assumption to a third — 5% — and the portfolio still nets +$113,981. The mail spend is fixed and small; there is no realistic capture rate where this loses money.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89864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15% capture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0" y="2926080"/>
            <a:ext cx="5623560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7" name="Text 5"/>
          <p:cNvSpPr/>
          <p:nvPr/>
        </p:nvSpPr>
        <p:spPr>
          <a:xfrm>
            <a:off x="9866376" y="2898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+$415,263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3016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capture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3583555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0" name="Text 8"/>
          <p:cNvSpPr/>
          <p:nvPr/>
        </p:nvSpPr>
        <p:spPr>
          <a:xfrm>
            <a:off x="7826371" y="363016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+$264,622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36168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 capture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0" y="4389120"/>
            <a:ext cx="2563559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3" name="Text 11"/>
          <p:cNvSpPr/>
          <p:nvPr/>
        </p:nvSpPr>
        <p:spPr>
          <a:xfrm>
            <a:off x="6806375" y="436168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+$189,302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093208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capture  (⅓ of plan)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0" y="5120640"/>
            <a:ext cx="1543549" cy="420624"/>
          </a:xfrm>
          <a:prstGeom prst="roundRect">
            <a:avLst>
              <a:gd name="adj" fmla="val 9783"/>
            </a:avLst>
          </a:prstGeom>
          <a:solidFill>
            <a:srgbClr val="2A6FC4"/>
          </a:solidFill>
          <a:ln/>
        </p:spPr>
      </p:sp>
      <p:sp>
        <p:nvSpPr>
          <p:cNvPr id="16" name="Text 14"/>
          <p:cNvSpPr/>
          <p:nvPr/>
        </p:nvSpPr>
        <p:spPr>
          <a:xfrm>
            <a:off x="5786365" y="509320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+$113,981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capture is around 1%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mail is a rounding error next to the commissions each listing earns, so every realistic capture rate stays comfortably profitable. Commission-compression sensitivity is in the appendix.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farms, one self-funding pipeline.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MAIL BUDGET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/ month, all six farms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/ YR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02736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30168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ramp, 15% capture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4224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2.82% of median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YR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25712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$415,263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53144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1,133% return on mail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8328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43000"/>
                <a:gridCol w="1234440"/>
                <a:gridCol w="1280160"/>
                <a:gridCol w="1280160"/>
                <a:gridCol w="14630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Mail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Proper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$4,680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Portfolio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$36,660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Britton Falls · Sunblest · Geist · Windermere are seeded estimates, finalized on the MIBOR data pull and reconciled to portfolio totals. “Net” = gross commission less mail cost, before brokerage split and taxes.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patient three-year ramp.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compounds on recognition — under 40% of run-rate in year one, full capture only in year three. No hockey stick: the mail cost is flat, the return climbs.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280160" y="2423160"/>
          <a:ext cx="9601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after mail. Same $36,660 annual spend across all three years — the growth is capture maturing, not budget escalation.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USE OF FUNDS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deployment. Own the pipeline.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funds the year-one rollout; then the portfolio self-funds — for less than the Zillow budget it replaces, with every dollar attributable.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mail program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$3,055/mo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352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touches × six farms — the engine.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upgrades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0" y="32644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021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Just-listed / just-sold triggers &amp; market reports.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8313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0" y="38313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touch per farm.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982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Geo-fenced digital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~$125/mo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636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 mail across all six polygons.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9651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0" y="4965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202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landing pages track every lead to a farm.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32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headroom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0" y="5532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$4,028/mo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Zillow budget left unspent — runway.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first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at 5% capture — one-third of plan.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channel, reversed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−$46,496 becomes +$415,263 at full ramp.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owned, appreciating asset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compounds; leads aren't rented from Zillow.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hoped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 feeds actuals back quarterly.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580644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spend than Zillow — a positive return instead of a loss, and a marketing asset you own.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72400" y="5806440"/>
            <a:ext cx="3703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+$461,759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swing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cost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touches/yr × $0.65 per piece.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GCI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winnable × median × 2.82%, net of mail.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County / MIBOR; medians cross-checked vs. Redfin.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ANCHOR-FARM RECONCILIATION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Winnable (net of top agent)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@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 @ 2.82%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$95,175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mail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COMMISSION-COMPRESSION SENSITIVITY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029968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GCI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  (base)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$363,981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$331,930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356616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67512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mail cost — before brokerage split, taxes and other costs. Zillow and farm figures share this basis, so the swing is like-for-like.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vs. seeded.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anchors reconcile to the dollar; the four others are seeded pending the MIBOR pull, shown only in combined form.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capture stress-tested down to 5%. Modeled potential at full ramp, not guaranteed results.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Farming Campaign</dc:title>
  <dc:subject>PptxGenJS Presentation</dc:subject>
  <dc:creator>Jones Real Estate</dc:creator>
  <cp:lastModifiedBy>Jones Real Estate</cp:lastModifiedBy>
  <cp:revision>1</cp:revision>
  <dcterms:created xsi:type="dcterms:W3CDTF">2026-07-19T03:40:48Z</dcterms:created>
  <dcterms:modified xsi:type="dcterms:W3CDTF">2026-07-19T03:40:48Z</dcterms:modified>
</cp:coreProperties>
</file>