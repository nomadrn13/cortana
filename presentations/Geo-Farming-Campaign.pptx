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contribution</c:v>
                </c:pt>
              </c:strCache>
            </c:strRef>
          </c:tx>
          <c:spPr>
            <a:solidFill>
              <a:srgbClr val="2A6FC4">
                <a:alpha val="100000"/>
              </a:srgbClr>
            </a:solidFill>
            <a:effectLst/>
          </c:spPr>
          <c:invertIfNegative val="0"/>
          <c:dLbls>
            <c:numFmt formatCode="&quot;$&quot;#,##0,&quot;K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160B"/>
                    </a:solidFill>
                    <a:latin typeface="Cambr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145000</c:v>
                </c:pt>
                <c:pt idx="1">
                  <c:v>280000</c:v>
                </c:pt>
                <c:pt idx="2">
                  <c:v>415000</c:v>
                </c:pt>
              </c:numCache>
            </c:numRef>
          </c:val>
        </c:ser>
        <c:dLbls>
          <c:numFmt formatCode="&quot;$&quot;#,##0,&quot;K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160B"/>
                  </a:solidFill>
                  <a:latin typeface="Cambr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1" i="0" u="none" strike="noStrike">
                <a:solidFill>
                  <a:srgbClr val="1B160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70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E3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JONES </a:t>
            </a:r>
            <a:pPr algn="l" indent="0" marL="0">
              <a:buNone/>
            </a:pPr>
            <a:r>
              <a:rPr lang="en-US" sz="1600" dirty="0">
                <a:solidFill>
                  <a:srgbClr val="E7E0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ESTATE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065215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PREPARED FOR LENDER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 </a:t>
            </a:r>
            <a:pPr algn="l" indent="0" marL="0">
              <a:buNone/>
            </a:pPr>
            <a:r>
              <a:rPr lang="en-US" sz="60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Farming</a:t>
            </a:r>
            <a:pPr algn="l" indent="0" marL="0">
              <a:buNone/>
            </a:pPr>
            <a:r>
              <a:rPr lang="en-US" sz="60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Campaign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</a:t>
            </a:r>
            <a:pPr algn="l" indent="0" marL="0">
              <a:buNone/>
            </a:pPr>
            <a:r>
              <a:rPr lang="en-US" sz="1100" b="1" dirty="0">
                <a:solidFill>
                  <a:srgbClr val="E7E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 Team</a:t>
            </a:r>
            <a:pPr algn="l"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Hamilton County, Indiana · MIBOR market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~$3M commission market, six neighborhoods deep.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 footprint is a large, stable, high-value market — thousands of owned homes turning over every year, with millions in listing commissions in play before the campaign captures a single one.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651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3520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NEIGHBORHOODS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contiguous footprint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2651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4,700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74720" y="3520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747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farm footprint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2651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~199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217920" y="3520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IN PLAY / YR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179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annually, net of the top agent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696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61120" y="2651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~$3.0M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8961120" y="3520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POOL / YR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9611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play across the six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0E1E33"/>
          </a:solidFill>
          <a:ln/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60120" y="495604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FOOTPRINT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60120" y="5230368"/>
            <a:ext cx="7589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Hamilton Proper · Gray Eagle · Britton Falls · Sunblest · Geist · Windermere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60120" y="5522976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home values </a:t>
            </a:r>
            <a:pPr algn="l" indent="0" marL="0">
              <a:buNone/>
            </a:pPr>
            <a:r>
              <a:rPr lang="en-US" sz="12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$550K–$1.0M</a:t>
            </a:r>
            <a:pPr algn="l" indent="0" marL="0">
              <a:buNone/>
            </a:pPr>
            <a:r>
              <a:rPr lang="en-US" sz="12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about 5% of homes turn over every year.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78240" y="5029200"/>
            <a:ext cx="0" cy="594360"/>
          </a:xfrm>
          <a:prstGeom prst="line">
            <a:avLst/>
          </a:prstGeom>
          <a:noFill/>
          <a:ln w="12700">
            <a:solidFill>
              <a:srgbClr val="6E5A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15400" y="4983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~$130M</a:t>
            </a:r>
            <a:endParaRPr lang="en-US" sz="3100" dirty="0"/>
          </a:p>
        </p:txBody>
      </p:sp>
      <p:sp>
        <p:nvSpPr>
          <p:cNvPr id="27" name="Text 25"/>
          <p:cNvSpPr/>
          <p:nvPr/>
        </p:nvSpPr>
        <p:spPr>
          <a:xfrm>
            <a:off x="8778240" y="552297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homes trading hands each year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UNDERWRITTEN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farm is priced like a loan, not a hope.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community is underwritten bottom-up. Nothing is assumed that MIBOR data can't verify — and the dominant competitor is subtracted out before we count a single winnable listing.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touches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× 12 mailings × $0.65 = the mail budget. No guesswork on spend.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01568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21608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12" name="Text 10"/>
          <p:cNvSpPr/>
          <p:nvPr/>
        </p:nvSpPr>
        <p:spPr>
          <a:xfrm>
            <a:off x="3721608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21608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Winnable pool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721608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sales × (1 − dominant-agent share). We never count listings a saturated competitor owns.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63056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83096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83096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capture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83096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modeled 15% of the winnable pool — against a break-even near 1%.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924544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44584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22" name="Text 20"/>
          <p:cNvSpPr/>
          <p:nvPr/>
        </p:nvSpPr>
        <p:spPr>
          <a:xfrm>
            <a:off x="9244584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Underwritten GCI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44584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× median price × 2.82% = gross commission, then net of mail.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by design 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medians seeded below small-sample Redfin highs, luxury turnover held at 4%, and the two anchor farms reconcile to this model to the dollar.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PROTECTION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funnel clears its cost many times over.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is fixed and small. Lead generation, capture, and conversion could all come in soft and the campaign still pays for itself — here's the funnel, and how little of it break-even actually requires.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$36,660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772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$3,055 per month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358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204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~470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5204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GENERATED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747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 per lead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790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1264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636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~188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2636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CAPTURED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179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of leads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222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8696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0068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29.8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90068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CONVERTED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611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 of captured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0E1E33"/>
          </a:solidFill>
          <a:ln/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60120" y="4956048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THE AD SPEND MANY TIMES OVER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0120" y="5212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~2.4 listings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cover the full $36,660 — 8% of the funnel's output. Capture and conversion could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halve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spend is still covered 3× over.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549640" y="5029200"/>
            <a:ext cx="0" cy="594360"/>
          </a:xfrm>
          <a:prstGeom prst="line">
            <a:avLst/>
          </a:prstGeom>
          <a:noFill/>
          <a:ln w="12700">
            <a:solidFill>
              <a:srgbClr val="6E5A2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0" y="4956048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≈12×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8641080" y="550468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cushion at plan · 3× if the funnel halves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(~10% of homes), capture (~40%) and conversion (~16%) are modeled assumptions; ad spend and listings-won come from the model.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farms, one self-funding pipeline.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MAIL BUDGET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41248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$36,660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$3,055 / month, all six farms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01568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0168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/ YR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02736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29.8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30168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full ramp, 15% capture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91656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COMMISSION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64224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$452K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91656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2.82% of median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CONTRIBUTION / YR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25712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$415,263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153144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1,133% return on mail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83280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43000"/>
                <a:gridCol w="1234440"/>
                <a:gridCol w="1280160"/>
                <a:gridCol w="1280160"/>
                <a:gridCol w="146304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Mail / yr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/ yr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Hamilton Proper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$89,325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 Eagle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$4,680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$51,156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Portfolio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~4,700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$36,660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$415,263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Britton Falls · Sunblest · Geist · Windermere are seeded estimates, finalized on the MIBOR data pull and reconciled to portfolio totals. “Net” = gross commission less mail cost, before brokerage split and taxes.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deliberately patient three-year ramp.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compounds on recognition — under 40% of run-rate in year one, full capture only in year three. No hockey stick: the mail cost is flat, the return climbs.</a:t>
            </a:r>
            <a:endParaRPr lang="en-US" sz="14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1280160" y="2423160"/>
          <a:ext cx="96012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280160" y="58978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 after mail. Same $36,660 annual spend across all three years — the growth is capture maturing, not budget escalation.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E3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&amp; USE OF FUNDS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 the deployment. Own the pipeline.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funds the year-one rollout; then the portfolio self-funds — for less than the Zillow budget it replaces, with every dollar attributable.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mail program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65760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$3,055/mo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93522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touches × six farms — the engine.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326440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upgrades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657600" y="326440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5021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Just-listed / just-sold triggers &amp; market reports.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38313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&amp; events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657600" y="383133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quarterly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069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physical touch per farm.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982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Geo-fenced digital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657600" y="43982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~$125/mo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6360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 the mail across all six polygons.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496519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Per-farm attribution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657600" y="49651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520293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/ landing pages track every lead to a farm.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5532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headroom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657600" y="5532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$4,028/mo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5769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Zillow budget left unspent — runway.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9224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LENDER IS BACKING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92240" y="2743200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2743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95160" y="27249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first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995160" y="298094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profitable at 5% capture — one-third of plan.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92240" y="3493008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4930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95160" y="3474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channel, reversed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995160" y="37307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−$46,496 becomes +$415,263 at full ramp.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92240" y="4242816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0" y="42428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owned, appreciating asset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995160" y="4480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compounds; leads aren't rented from Zillow.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92240" y="4992624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39" name="Text 37"/>
          <p:cNvSpPr/>
          <p:nvPr/>
        </p:nvSpPr>
        <p:spPr>
          <a:xfrm>
            <a:off x="6492240" y="49926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995160" y="497433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hoped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6995160" y="52303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Per-farm attribution feeds actuals back quarterly.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40080" y="580644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0A1626"/>
          </a:solidFill>
          <a:ln w="12700">
            <a:solidFill>
              <a:srgbClr val="6E5A2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" y="5806440"/>
            <a:ext cx="7315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spend than Zillow — a positive return instead of a loss, and a marketing asset you own.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772400" y="5806440"/>
            <a:ext cx="3703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+$461,759   </a:t>
            </a:r>
            <a:pPr algn="r"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annual swing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7E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pPr algn="r" indent="0" marL="0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ASSUMPTIONS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 behind the numbers.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cost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× 12 touches/yr × $0.65 per piece.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350008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Winnable pool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sales × (1 − dominant-agent share).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2916936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&amp; GCI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of winnable × median × 2.82%, net of mail.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3483864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Hamilton County / MIBOR; medians cross-checked vs. Redfin.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ANCHOR-FARM RECONCILIATION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389120"/>
          <a:ext cx="53949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8016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Hamilton 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 Eagle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Winnable (net of top agent)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Captured @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GCI @ 2.82%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$95,175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$55,836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after mail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$89,325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$51,156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400800" y="17373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COMMISSION-COMPRESSION SENSITIVITY</a:t>
            </a:r>
            <a:endParaRPr lang="en-US" sz="10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029968"/>
          <a:ext cx="51206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17830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GCI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contribution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2.82%  (base)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$415,263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$401K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$363,981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$369K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$331,930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00800" y="356616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7512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&amp; DISCLOSURES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675120" y="4023360"/>
            <a:ext cx="4617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basis.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“Net” = gross commission less mail cost — before brokerage split, taxes and other costs. Zillow and farm figures share this basis, so the swing is like-for-like.
</a:t>
            </a:r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vs. seeded.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anchors reconcile to the dollar; the four others are seeded pending the MIBOR pull, shown only in combined form.
</a:t>
            </a:r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Conservatism.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capture stress-tested down to 5%. Modeled potential at full ramp, not guaranteed results.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 Farming Campaign</dc:title>
  <dc:subject>PptxGenJS Presentation</dc:subject>
  <dc:creator>Jones Real Estate</dc:creator>
  <cp:lastModifiedBy>Jones Real Estate</cp:lastModifiedBy>
  <cp:revision>1</cp:revision>
  <dcterms:created xsi:type="dcterms:W3CDTF">2026-07-24T10:57:19Z</dcterms:created>
  <dcterms:modified xsi:type="dcterms:W3CDTF">2026-07-24T10:57:19Z</dcterms:modified>
</cp:coreProperties>
</file>