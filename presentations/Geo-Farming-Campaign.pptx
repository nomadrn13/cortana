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contribution</c:v>
                </c:pt>
              </c:strCache>
            </c:strRef>
          </c:tx>
          <c:spPr>
            <a:solidFill>
              <a:srgbClr val="2A6FC4">
                <a:alpha val="100000"/>
              </a:srgbClr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160B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152000</c:v>
                </c:pt>
                <c:pt idx="1">
                  <c:v>294000</c:v>
                </c:pt>
                <c:pt idx="2">
                  <c:v>436000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160B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B160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9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JONES </a:t>
            </a:r>
            <a:pPr algn="l" indent="0" marL="0">
              <a:buNone/>
            </a:pPr>
            <a:r>
              <a:rPr lang="en-US" sz="1600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65215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PREPARED FOR LENDER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 </a:t>
            </a:r>
            <a:pPr algn="l" indent="0" marL="0">
              <a:buNone/>
            </a:pPr>
            <a:r>
              <a:rPr lang="en-US" sz="60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Farming</a:t>
            </a:r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Campaign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data-underwritten geo-farming portfolio across six Hamilton County communities — built to deploy marketing capital with measurable, downside-protected ROI.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468880" cy="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983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−$46,496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640080" y="5559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8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ZILLOW CHANNEL · NET / YR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20440" y="4892040"/>
            <a:ext cx="2468880" cy="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4983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+$435,567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3520440" y="5559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8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GEO-FARM PORTFOLIO · NET / YR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0" y="4892040"/>
            <a:ext cx="2468880" cy="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9834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+$482,063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400800" y="5559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8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SWING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algn="l" indent="0" marL="0"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 Team</a:t>
            </a:r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Hamilton County, Indiana · MIBOR market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79615" y="6217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Capital &amp; Ad-Spend Facility
</a:t>
            </a:r>
            <a:pPr algn="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Requested: growth capital for a 6-farm rollout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 spend that converts to listings — and pays for itself.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turns a fixed, measurable ad budget into an owned lead pipeline across six neighborhoods. The conversion needed to cover the entire spend is a rounding error against the homes you reach.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REACHED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farm neighborhoods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358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AD SPEND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$3,055/mo · ~$7.80 / home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790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636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LEADS / YR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~10% engagement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22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068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0068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WON / YR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6% of leads convert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95604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ENTIRE AD SPEND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212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~2.3 listings a year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 the full $36,660 ad spend — a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lead-to-listing conversion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well under 1% of the homes you reach.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4964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495604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≈13×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686800" y="550468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cushion vs. the 29.8 listings the plan targets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UNDERWRITTEN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farm is priced like a loan, not a hope.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community is underwritten bottom-up. Nothing is assumed that MIBOR data can't verify — and the dominant competitor is subtracted out before we count a single winnable listing.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touches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mailings × $0.65 = the mail budget. No guesswork on spend.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01568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21608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21608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 We never count listings a saturated competitor owns.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63056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3096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83096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capture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83096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modeled 15% of the winnable pool — against a break-even of under 1%.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24544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244584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Underwritten GCI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584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× median price × 2.82% = gross commission, then net of mail.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design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medians seeded below small-sample Redfin highs, luxury turnover held at 4%, and the two anchor farms reconcile to this model to the dollar.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Stress-tested: profitable at a third of the plan.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15% capture assumption to a third — 5% — and the portfolio still nets +$120,749. The mail spend is fixed and small; there is no realistic capture rate where this loses money.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289864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15% capture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0" y="2926080"/>
            <a:ext cx="5623560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7" name="Text 5"/>
          <p:cNvSpPr/>
          <p:nvPr/>
        </p:nvSpPr>
        <p:spPr>
          <a:xfrm>
            <a:off x="9866376" y="289864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+$435,567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3016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capture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3591269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0" name="Text 8"/>
          <p:cNvSpPr/>
          <p:nvPr/>
        </p:nvSpPr>
        <p:spPr>
          <a:xfrm>
            <a:off x="7834085" y="363016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+$278,158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36168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 capture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0" y="4389120"/>
            <a:ext cx="2575130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3" name="Text 11"/>
          <p:cNvSpPr/>
          <p:nvPr/>
        </p:nvSpPr>
        <p:spPr>
          <a:xfrm>
            <a:off x="6817946" y="436168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+$199,454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09320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capture  (⅓ of plan)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0" y="5120640"/>
            <a:ext cx="1558978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6" name="Text 14"/>
          <p:cNvSpPr/>
          <p:nvPr/>
        </p:nvSpPr>
        <p:spPr>
          <a:xfrm>
            <a:off x="5801794" y="509320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+$120,749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capture is 0.92%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mail is a rounding error next to a ~$28K commission, so every realistic capture rate stays comfortably profitable. Commission-compression sensitivity is in the appendix.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farms, one self-funding pipeline.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MAIL BUDGET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41248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 / month, all six farms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/ YR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02736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30168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ramp, 15% capture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COMMISSION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64224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$472K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91656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2.82% of median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YR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25712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$435,567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53144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1,088% return on mail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4612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43000"/>
                <a:gridCol w="1234440"/>
                <a:gridCol w="1280160"/>
                <a:gridCol w="1280160"/>
                <a:gridCol w="146304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Mail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Proper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$4,680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seeded farms — combined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~3,350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~$467K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$26,130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~$274,782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~1,052%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Portfolio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$36,660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$435,567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Britton Falls · Sunblest · Geist · Windermere are seeded estimates, finalized on the MIBOR data pull and reconciled to portfolio totals. “Net” = gross commission less mail cost, before brokerage split and taxes.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deliberately patient three-year ramp.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compounds on recognition — under 40% of run-rate in year one, full capture only in year three. No hockey stick: the mail cost is flat, the return climbs.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280160" y="2423160"/>
          <a:ext cx="96012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280160" y="5897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after mail. Same $36,660 annual spend across all three years — the growth is capture maturing, not budget escalation.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&amp; USE OF FUNDS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the deployment. Own the pipeline.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funds the year-one rollout; then the portfolio self-funds — for less than the Zillow budget it replaces, with every dollar attributable.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mail program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5760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$3,055/mo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9352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touches × six farms — the engine.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upgrades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0" y="32644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5021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Just-listed / just-sold triggers &amp; market reports.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8313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events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0" y="38313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69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physical touch per farm.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982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Geo-fenced digital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43982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~$125/mo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636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 the mail across all six polygons.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49651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0" y="49651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2029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landing pages track every lead to a farm.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32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headroom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657600" y="5532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$4,028/mo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769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Zillow budget left unspent — runway.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LENDER IS BACKING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743200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27249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first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95160" y="29809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profitable at 5% capture — one-third of plan.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493008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4930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channel, reversed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95160" y="37307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−$46,496 becomes +$435,567 at full ramp.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92240" y="4242816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42428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owned, appreciating asset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9951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compounds; leads aren't rented from Zillow.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4992624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4992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95160" y="49743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hoped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995160" y="5230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 feeds actuals back quarterly.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0080" y="58064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A1626"/>
          </a:solidFill>
          <a:ln w="12700">
            <a:solidFill>
              <a:srgbClr val="6E5A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" y="5806440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spend than Zillow — a positive return instead of a loss, and a marketing asset you own.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772400" y="5806440"/>
            <a:ext cx="3703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+$482,063   </a:t>
            </a:r>
            <a:pPr algn="r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swing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pPr algn="r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ASSUMPTIONS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behind the numbers.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cost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touches/yr × $0.65 per piece.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91693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GCI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winnable × median × 2.82%, net of mail.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48386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County / MIBOR; medians cross-checked vs. Redfin.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ANCHOR-FARM RECONCILIATION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891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Winnable (net of top agent)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@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 @ 2.82%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$95,175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$76,140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after mail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$71,460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0" y="17373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COMMISSION-COMPRESSION SENSITIVITY</a:t>
            </a:r>
            <a:endParaRPr lang="en-US" sz="10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029968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7830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GCI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contribution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2.82%  (base)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$435,567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$419K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$381,990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$385K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$348,490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356616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&amp; DISCLOSURES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675120" y="4023360"/>
            <a:ext cx="4617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basis.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“Net” = gross commission less mail cost — before brokerage split, taxes and other costs. Zillow and farm figures share this basis, so the swing is like-for-like.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vs. seeded.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anchors reconcile to the dollar; the four others are seeded pending the MIBOR pull, shown only in combined form.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Conservatism.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capture stress-tested down to 5%. Modeled potential at full ramp, not guaranteed results.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 Farming Campaign</dc:title>
  <dc:subject>PptxGenJS Presentation</dc:subject>
  <dc:creator>Jones Real Estate</dc:creator>
  <cp:lastModifiedBy>Jones Real Estate</cp:lastModifiedBy>
  <cp:revision>1</cp:revision>
  <dcterms:created xsi:type="dcterms:W3CDTF">2026-07-19T03:16:50Z</dcterms:created>
  <dcterms:modified xsi:type="dcterms:W3CDTF">2026-07-19T03:16:50Z</dcterms:modified>
</cp:coreProperties>
</file>