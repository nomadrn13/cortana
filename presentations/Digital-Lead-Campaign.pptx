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E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JONES </a:t>
            </a:r>
            <a:pPr indent="0" marL="0">
              <a:buNone/>
            </a:pPr>
            <a:r>
              <a:rPr lang="en-US" sz="1600" dirty="0">
                <a:solidFill>
                  <a:srgbClr val="E7E0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ESTATE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065215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PREPARED FOR LENDER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</a:t>
            </a:r>
            <a:pPr indent="0" marL="0">
              <a:buNone/>
            </a:pPr>
            <a:r>
              <a:rPr lang="en-US" sz="60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</a:t>
            </a:r>
            <a:pPr indent="0" marL="0">
              <a:buNone/>
            </a:pPr>
            <a:r>
              <a:rPr lang="en-US" sz="60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Campaign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</a:t>
            </a:r>
            <a:pPr indent="0" marL="0">
              <a:buNone/>
            </a:pPr>
            <a:r>
              <a:rPr lang="en-US" sz="11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 Team</a:t>
            </a:r>
            <a:pPr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North-Central Indiana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ZIP codes, one measurable lead market.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 targets eight north-central Indiana ZIP codes — a defined, addressable market with a steady monthly supply of buyer and seller connections and clear room to grow share.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ZIP CODES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north-central Indiana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~$215K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4747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HOME VALUE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747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$151K – $293K range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~346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2179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/ YR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179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&amp; seller leads in-market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696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611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 / mo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9611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AVAILABLE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611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captured — headroom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0E1E33"/>
          </a:solidFill>
          <a:ln/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0120" y="495604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FOOTPRINT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60120" y="5230368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46970 · 46975 · 46936 · 47359 · 46901 · 47336 · 46979 · 46928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60120" y="552297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North-central Indiana   ·   average home value </a:t>
            </a:r>
            <a:pPr indent="0" marL="0">
              <a:buNone/>
            </a:pPr>
            <a:r>
              <a:rPr lang="en-US" sz="12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~$215K</a:t>
            </a:r>
            <a:pPr indent="0" marL="0">
              <a:buNone/>
            </a:pPr>
            <a:r>
              <a:rPr lang="en-US" sz="12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share of voice today ranges 8% to nearly 200%.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Digital Lead Campaign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$2,606 a month goes.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is allocated ZIP-by-ZIP against home value, lead supply, and share of voice — the whole plan is measurable and adjustable down to the postal code.</a:t>
            </a:r>
            <a:endParaRPr lang="en-US" sz="14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74520"/>
                <a:gridCol w="1874520"/>
                <a:gridCol w="1828800"/>
                <a:gridCol w="1920240"/>
                <a:gridCol w="19202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home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Connections / 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Add'l leads / 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voice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/ 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$247K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135.8%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47359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$164K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$191K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47336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$151K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108.6%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$293K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$233K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 ZIP codes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~$215K 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Connections, additional leads, share of voice and budget are from the live campaign dashboard; “&lt;1” is counted as ~0.5 in the totals. $2,606/mo = $31,272/yr, at ~$90 per connection.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Digital Lead Campaign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AD SPEND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spend pays for itself — and then some.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one year of spend through the funnel at a deliberately conservative 2% close rate: the commissions earned outrun the ad budget with margin to spare.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$31,272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/ YR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$2,606 per month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358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4747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747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$90 per connection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790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179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2179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CLOSINGS / YR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179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of connections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222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8696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9611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$41,581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9611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COMMISSION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2.82% × home value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0E1E33"/>
          </a:solidFill>
          <a:ln/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0120" y="495604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AD SPEND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0120" y="5212080"/>
            <a:ext cx="7406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$1.33 in commission for every $1 spent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about </a:t>
            </a:r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+$10,309 net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the year (gross commission less ad spend, before brokerage split and taxes).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686800" y="5029200"/>
            <a:ext cx="0" cy="59436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69680" y="4956048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1.33×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8778240" y="552297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ad spend, at a 2% close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Digital Lead Campaign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PROTECTION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Profitable above a 1.5% close rate.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model turns on one number — how often a connection becomes a closing. Break-even sits at just 1.5%, comfortably below the 2% modeled, and every point above that is profit.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40080" y="289864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3.0% close rate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0" y="2926080"/>
            <a:ext cx="5623560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7" name="Text 5"/>
          <p:cNvSpPr/>
          <p:nvPr/>
        </p:nvSpPr>
        <p:spPr>
          <a:xfrm>
            <a:off x="9866376" y="289864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+$31,100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63016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2.5% close rate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14800" y="3657600"/>
            <a:ext cx="3743917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10" name="Text 8"/>
          <p:cNvSpPr/>
          <p:nvPr/>
        </p:nvSpPr>
        <p:spPr>
          <a:xfrm>
            <a:off x="7986733" y="363016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+$20,705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36168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2.0% close  (plan)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14800" y="4389120"/>
            <a:ext cx="1864093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13" name="Text 11"/>
          <p:cNvSpPr/>
          <p:nvPr/>
        </p:nvSpPr>
        <p:spPr>
          <a:xfrm>
            <a:off x="6106909" y="436168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+$10,309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09320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 close  (break-even)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114800" y="5120640"/>
            <a:ext cx="108493" cy="420624"/>
          </a:xfrm>
          <a:prstGeom prst="roundRect">
            <a:avLst>
              <a:gd name="adj" fmla="val 37927"/>
            </a:avLst>
          </a:prstGeom>
          <a:solidFill>
            <a:srgbClr val="C9BE9A"/>
          </a:solidFill>
          <a:ln/>
        </p:spPr>
      </p:sp>
      <p:sp>
        <p:nvSpPr>
          <p:cNvPr id="16" name="Text 14"/>
          <p:cNvSpPr/>
          <p:nvPr/>
        </p:nvSpPr>
        <p:spPr>
          <a:xfrm>
            <a:off x="4351309" y="509320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contribution = gross commission less the $31,272 ad spend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before brokerage split and taxes. A 1.5% close on internet leads is a low bar with disciplined, fast follow-up.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Digital Lead Campaign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&amp; HEADROOM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Efficient today, with clear room to scale.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spend is disciplined — and three ZIP codes are barely tapped, so added budget has somewhere productive to go.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6974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COST / CONNECTION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8679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low as $24 in 47359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233172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26974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474720" y="3566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ZIPs UNDER 50% VOICE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74720" y="38679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46901, 46928, 46979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233172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26974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217920" y="3566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/ YR AVAILABLE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17920" y="38679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~7/mo not yet captured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69680" y="233172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61120" y="26974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7.7%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961120" y="3566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SHARE OF VOICE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61120" y="38679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46901 — wide open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80060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4983480"/>
            <a:ext cx="10241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lean in: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46901 (Kokomo) holds just 7.7% share of voice in a $191K market, and 47359 already converts at $24 per connection. Budget added here compounds — more voice where the market is open, more leads where they're cheapest.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Digital Lead Campaign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E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 a proven, measurable lead channel.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$2,606/mo already returns more than it costs at a conservative close rate — every dollar is tracked to a ZIP, a connection, and a closing.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CAPITAL FUNDS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 the 8-ZIP program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06240" y="2697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$2,606/mo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94436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346 connections a year, all attributable.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4107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available leads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06240" y="3410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headroom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657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~7/mo extra leads already in reach.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41239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open ZIPs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06240" y="412394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37083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share of voice where it's under 50%.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837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every dollar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06240" y="483717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included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08406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connection → closing, measured monthly.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LENDER IS BACKING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92240" y="2743200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743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95160" y="27249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unit economics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995160" y="298094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$1.33 in commission per $1 of ad spend.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92240" y="3493008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34930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95160" y="3474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break-even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995160" y="37307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 above a 1.5% close rate.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92240" y="4242816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42428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measurable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995160" y="4480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cost, and share of voice tracked by ZIP.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4992624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3" name="Text 31"/>
          <p:cNvSpPr/>
          <p:nvPr/>
        </p:nvSpPr>
        <p:spPr>
          <a:xfrm>
            <a:off x="6492240" y="49926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995160" y="49743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to grow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6995160" y="52303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ZIPs and unclaimed leads to scale into.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580644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0A1626"/>
          </a:solidFill>
          <a:ln w="12700">
            <a:solidFill>
              <a:srgbClr val="6E5A2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0120" y="5806440"/>
            <a:ext cx="7498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tracked, ROI-positive lead channel — funded to hold ground and take the open ZIPs.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229600" y="5806440"/>
            <a:ext cx="3246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1.33×   </a:t>
            </a:r>
            <a:pPr algn="r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ad spend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indent="0" marL="0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Digital Lead Campaign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pPr algn="r" indent="0" marL="0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ASSUMPTIONS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behind the numbers.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$2,606/mo = $31,272/yr, summed across the 8 ZIPs.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350008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live campaign dashboard: ~28.8/mo (~346/yr).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916936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Closings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of connections — a deliberately conservative close rate.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48386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2.82% × each ZIP's average home value, net of ad spend.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CLOSE-RATE SENSITIVITY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43484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16459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commission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vs. ad 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  (break-even)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$31,186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  (plan)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$41,581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+$10,309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$51,977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+$20,705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$62,372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+$31,100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0" y="173736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&amp; DISCLOSURES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675120" y="2240280"/>
            <a:ext cx="4617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vs. modeled. 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Connections, additional leads, share of voice and per-ZIP budgets are pulled from the live campaign dashboard. Close rate (2%) and commission (2.82%) are modeled assumptions.
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basis. 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“Net” = gross commission less ad spend — before brokerage split, taxes and other business costs. A take-home / DSCR view follows from your commission plan.
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Conservatism. 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close is at the low end for internet real-estate leads; “&lt;1” dashboard values are counted as ~0.5. Break-even sits at a 1.5% close. Modeled potential, not guaranteed results.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Digital Lead Campaign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Lead Campaign</dc:title>
  <dc:subject>PptxGenJS Presentation</dc:subject>
  <dc:creator>Jones Real Estate</dc:creator>
  <cp:lastModifiedBy>Jones Real Estate</cp:lastModifiedBy>
  <cp:revision>1</cp:revision>
  <dcterms:created xsi:type="dcterms:W3CDTF">2026-08-09T12:55:28Z</dcterms:created>
  <dcterms:modified xsi:type="dcterms:W3CDTF">2026-08-09T12:55:28Z</dcterms:modified>
</cp:coreProperties>
</file>